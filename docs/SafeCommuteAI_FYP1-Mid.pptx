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6858000" cx="12192000"/>
  <p:notesSz cx="6858000" cy="9144000"/>
  <p:embeddedFontLst>
    <p:embeddedFont>
      <p:font typeface="Century Schoolbook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45">
          <p15:clr>
            <a:srgbClr val="A4A3A4"/>
          </p15:clr>
        </p15:guide>
        <p15:guide id="2" pos="3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7F6D63-25D0-41AE-9290-A99F18774683}">
  <a:tblStyle styleId="{807F6D63-25D0-41AE-9290-A99F18774683}" styleName="Table_0">
    <a:wholeTbl>
      <a:tcTxStyle b="off" i="off">
        <a:font>
          <a:latin typeface="Century Schoolbook"/>
          <a:ea typeface="Century Schoolbook"/>
          <a:cs typeface="Century Schoolbook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BEBEB"/>
          </a:solidFill>
        </a:fill>
      </a:tcStyle>
    </a:wholeTbl>
    <a:band1H>
      <a:tcTxStyle/>
      <a:tcStyle>
        <a:fill>
          <a:solidFill>
            <a:srgbClr val="D4D4D5"/>
          </a:solidFill>
        </a:fill>
      </a:tcStyle>
    </a:band1H>
    <a:band2H>
      <a:tcTxStyle/>
    </a:band2H>
    <a:band1V>
      <a:tcTxStyle/>
      <a:tcStyle>
        <a:fill>
          <a:solidFill>
            <a:srgbClr val="D4D4D5"/>
          </a:solidFill>
        </a:fill>
      </a:tcStyle>
    </a:band1V>
    <a:band2V>
      <a:tcTxStyle/>
    </a:band2V>
    <a:lastCol>
      <a:tcTxStyle b="on" i="off">
        <a:font>
          <a:latin typeface="Century Schoolbook"/>
          <a:ea typeface="Century Schoolbook"/>
          <a:cs typeface="Century Schoolbook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entury Schoolbook"/>
          <a:ea typeface="Century Schoolbook"/>
          <a:cs typeface="Century Schoolbook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entury Schoolbook"/>
          <a:ea typeface="Century Schoolbook"/>
          <a:cs typeface="Century Schoolbook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entury Schoolbook"/>
          <a:ea typeface="Century Schoolbook"/>
          <a:cs typeface="Century Schoolbook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6E4A0C69-7F99-44FA-BABA-86878A30CECB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45" orient="horz"/>
        <p:guide pos="384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CenturySchoolbook-regular.fntdata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CenturySchoolbook-italic.fntdata"/><Relationship Id="rId25" Type="http://schemas.openxmlformats.org/officeDocument/2006/relationships/font" Target="fonts/CenturySchoolbook-bold.fntdata"/><Relationship Id="rId27" Type="http://schemas.openxmlformats.org/officeDocument/2006/relationships/font" Target="fonts/CenturySchoolbook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dba1c1092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9dba1c1092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9dba1c1092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dba1c1092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9dba1c1092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9dba1c1092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d35dc73ce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9d35dc73ce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90d763b3e9b546f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290d763b3e9b546f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d35dc73ce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9d35dc73ce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83e7b80f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983e7b80f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983e7b80f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343437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343437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entury Schoolbook"/>
              <a:buNone/>
              <a:defRPr b="0"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595959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1261872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53" name="Google Shape;53;p7"/>
          <p:cNvSpPr txBox="1"/>
          <p:nvPr>
            <p:ph idx="2" type="body"/>
          </p:nvPr>
        </p:nvSpPr>
        <p:spPr>
          <a:xfrm>
            <a:off x="6126480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54" name="Google Shape;54;p7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" type="body"/>
          </p:nvPr>
        </p:nvSpPr>
        <p:spPr>
          <a:xfrm>
            <a:off x="1261872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8"/>
          <p:cNvSpPr txBox="1"/>
          <p:nvPr>
            <p:ph idx="2" type="body"/>
          </p:nvPr>
        </p:nvSpPr>
        <p:spPr>
          <a:xfrm>
            <a:off x="1261872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61" name="Google Shape;61;p8"/>
          <p:cNvSpPr txBox="1"/>
          <p:nvPr>
            <p:ph idx="3" type="body"/>
          </p:nvPr>
        </p:nvSpPr>
        <p:spPr>
          <a:xfrm>
            <a:off x="6126480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20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8"/>
          <p:cNvSpPr txBox="1"/>
          <p:nvPr>
            <p:ph idx="4" type="body"/>
          </p:nvPr>
        </p:nvSpPr>
        <p:spPr>
          <a:xfrm>
            <a:off x="6126480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63" name="Google Shape;63;p8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841248" y="457200"/>
            <a:ext cx="320040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Schoolbook"/>
              <a:buNone/>
              <a:defRPr b="0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504267" y="685800"/>
            <a:ext cx="6079066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841248" y="2099734"/>
            <a:ext cx="32004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9" name="Google Shape;79;p11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2"/>
          <p:cNvSpPr txBox="1"/>
          <p:nvPr>
            <p:ph type="title"/>
          </p:nvPr>
        </p:nvSpPr>
        <p:spPr>
          <a:xfrm>
            <a:off x="914400" y="5257800"/>
            <a:ext cx="9982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Schoolbook"/>
              <a:buNone/>
              <a:defRPr b="0"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/>
          <p:nvPr>
            <p:ph idx="2" type="pic"/>
          </p:nvPr>
        </p:nvSpPr>
        <p:spPr>
          <a:xfrm>
            <a:off x="0" y="0"/>
            <a:ext cx="11292840" cy="51289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6" name="Google Shape;86;p12"/>
          <p:cNvSpPr txBox="1"/>
          <p:nvPr>
            <p:ph idx="1" type="body"/>
          </p:nvPr>
        </p:nvSpPr>
        <p:spPr>
          <a:xfrm>
            <a:off x="914400" y="6108589"/>
            <a:ext cx="9982200" cy="597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7" name="Google Shape;87;p12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" type="body"/>
          </p:nvPr>
        </p:nvSpPr>
        <p:spPr>
          <a:xfrm rot="5400000">
            <a:off x="3383884" y="-293212"/>
            <a:ext cx="4351337" cy="8595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 rot="5400000">
            <a:off x="6938169" y="2091531"/>
            <a:ext cx="5897562" cy="247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" type="body"/>
          </p:nvPr>
        </p:nvSpPr>
        <p:spPr>
          <a:xfrm rot="5400000">
            <a:off x="1680369" y="-537369"/>
            <a:ext cx="589756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A7A1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Schoolbook"/>
              <a:buNone/>
              <a:defRPr b="0" i="0" sz="44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434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  <a:defRPr b="0" i="0" sz="4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36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rxiv.org/pdf/1506.02640" TargetMode="External"/><Relationship Id="rId4" Type="http://schemas.openxmlformats.org/officeDocument/2006/relationships/hyperlink" Target="https://arxiv.org/pdf/1506.01497" TargetMode="External"/><Relationship Id="rId5" Type="http://schemas.openxmlformats.org/officeDocument/2006/relationships/image" Target="../media/image13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international.arteii.or.id/index.php/IJIES/article/view/121" TargetMode="External"/><Relationship Id="rId4" Type="http://schemas.openxmlformats.org/officeDocument/2006/relationships/hyperlink" Target="https://link.springer.com/article/10.1007/s10044-025-01443-8" TargetMode="External"/><Relationship Id="rId5" Type="http://schemas.openxmlformats.org/officeDocument/2006/relationships/hyperlink" Target="https://www.mdpi.com/1424-8220/14/8/14601" TargetMode="External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3437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ctrTitle"/>
          </p:nvPr>
        </p:nvSpPr>
        <p:spPr>
          <a:xfrm>
            <a:off x="924900" y="1791275"/>
            <a:ext cx="10342200" cy="20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3684"/>
              <a:buFont typeface="Century Schoolbook"/>
              <a:buNone/>
            </a:pPr>
            <a:r>
              <a:rPr lang="en-US" sz="5700"/>
              <a:t>Image based Real-time vehicle unsafe </a:t>
            </a:r>
            <a:r>
              <a:rPr lang="en-US" sz="5700"/>
              <a:t>passenger</a:t>
            </a:r>
            <a:r>
              <a:rPr lang="en-US"/>
              <a:t> </a:t>
            </a:r>
            <a:r>
              <a:rPr lang="en-US" sz="5700"/>
              <a:t>behavior detection using Deep Learning</a:t>
            </a:r>
            <a:endParaRPr sz="5700"/>
          </a:p>
        </p:txBody>
      </p:sp>
      <p:sp>
        <p:nvSpPr>
          <p:cNvPr id="107" name="Google Shape;107;p15"/>
          <p:cNvSpPr txBox="1"/>
          <p:nvPr>
            <p:ph idx="1" type="subTitle"/>
          </p:nvPr>
        </p:nvSpPr>
        <p:spPr>
          <a:xfrm>
            <a:off x="1275519" y="3739231"/>
            <a:ext cx="4578489" cy="2117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0000"/>
              <a:buNone/>
            </a:pPr>
            <a:r>
              <a:rPr lang="en-US" sz="2800"/>
              <a:t>Group Members:</a:t>
            </a:r>
            <a:endParaRPr sz="2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Arial"/>
              <a:buNone/>
            </a:pPr>
            <a:r>
              <a:rPr lang="en-US"/>
              <a:t>Abdullah Aamir (22P-9235)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80000"/>
              <a:buFont typeface="Arial"/>
              <a:buNone/>
            </a:pPr>
            <a:r>
              <a:rPr lang="en-US"/>
              <a:t>Hamza (22P-9222)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SzPct val="62857"/>
              <a:buNone/>
            </a:pPr>
            <a:r>
              <a:rPr lang="en-US"/>
              <a:t>Mustafa (22P-9221)</a:t>
            </a:r>
            <a:endParaRPr sz="2800"/>
          </a:p>
        </p:txBody>
      </p:sp>
      <p:sp>
        <p:nvSpPr>
          <p:cNvPr id="108" name="Google Shape;108;p15"/>
          <p:cNvSpPr txBox="1"/>
          <p:nvPr/>
        </p:nvSpPr>
        <p:spPr>
          <a:xfrm>
            <a:off x="6782881" y="4165202"/>
            <a:ext cx="517255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Arial"/>
              <a:buNone/>
            </a:pPr>
            <a:r>
              <a:rPr b="0" i="0" lang="en-US" sz="2400" u="none" cap="none" strike="noStrike">
                <a:solidFill>
                  <a:srgbClr val="BFBF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Supervisor</a:t>
            </a:r>
            <a:endParaRPr b="0" i="0" sz="2400" u="none" cap="none" strike="noStrik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Arial"/>
              <a:buNone/>
            </a:pPr>
            <a:r>
              <a:rPr lang="en-US" sz="2200">
                <a:solidFill>
                  <a:srgbClr val="BFBF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Mr. Fazlebasit</a:t>
            </a:r>
            <a:endParaRPr sz="2800">
              <a:solidFill>
                <a:srgbClr val="B4B4B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National University of Computer and Emerging Sciences - Wikipedia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9514" y="255554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1017639" y="1691322"/>
            <a:ext cx="8839593" cy="44808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b="1" lang="en-US"/>
              <a:t>Unsafe public transport</a:t>
            </a:r>
            <a:r>
              <a:rPr lang="en-US"/>
              <a:t> is a major safety issue in South Asia &amp; Africa.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b="1" lang="en-US"/>
              <a:t>Passengers often:</a:t>
            </a:r>
            <a:endParaRPr b="1"/>
          </a:p>
          <a:p>
            <a:pPr indent="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Sit on rooftops</a:t>
            </a:r>
            <a:endParaRPr/>
          </a:p>
          <a:p>
            <a:pPr indent="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/>
              <a:t>Hang dangerously outside vehicles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b="1" lang="en-US"/>
              <a:t>Leads to:</a:t>
            </a:r>
            <a:r>
              <a:rPr lang="en-US"/>
              <a:t> Accidents, fatalities, traffic chaos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b="1" lang="en-US"/>
              <a:t>Current monitoring:</a:t>
            </a:r>
            <a:r>
              <a:rPr lang="en-US"/>
              <a:t> Manual &amp; inconsistent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b="1" lang="en-US"/>
              <a:t>Automated, Real time detection</a:t>
            </a:r>
            <a:r>
              <a:rPr lang="en-US"/>
              <a:t> to support traffic enforcement.</a:t>
            </a:r>
            <a:endParaRPr/>
          </a:p>
        </p:txBody>
      </p:sp>
      <p:pic>
        <p:nvPicPr>
          <p:cNvPr descr="National University of Computer and Emerging Sciences - Wikipedia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8" name="Google Shape;11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8550" y="2449313"/>
            <a:ext cx="2858725" cy="191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1249525" y="795675"/>
            <a:ext cx="48576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Project Objectives</a:t>
            </a:r>
            <a:endParaRPr/>
          </a:p>
        </p:txBody>
      </p:sp>
      <p:sp>
        <p:nvSpPr>
          <p:cNvPr id="124" name="Google Shape;124;p17"/>
          <p:cNvSpPr txBox="1"/>
          <p:nvPr>
            <p:ph idx="12" type="sldNum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ational University of Computer and Emerging Sciences - Wikipedia"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1017650" y="1691324"/>
            <a:ext cx="8839500" cy="3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US"/>
              <a:t>Collect and annotate a </a:t>
            </a:r>
            <a:r>
              <a:rPr b="1" lang="en-US"/>
              <a:t>custom dataset</a:t>
            </a:r>
            <a:r>
              <a:rPr lang="en-US"/>
              <a:t> of public transport vehicles with unsafe behavior.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US"/>
              <a:t>Train </a:t>
            </a:r>
            <a:r>
              <a:rPr b="1" lang="en-US"/>
              <a:t>deep learning models</a:t>
            </a:r>
            <a:r>
              <a:rPr lang="en-US"/>
              <a:t> to detect and classify vehicles, passengers (on roof, hanging), and license plates.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US"/>
              <a:t>Develop a </a:t>
            </a:r>
            <a:r>
              <a:rPr b="1" lang="en-US"/>
              <a:t>backend system</a:t>
            </a:r>
            <a:r>
              <a:rPr lang="en-US"/>
              <a:t> for processing video streams and logging violations.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US"/>
              <a:t>Build a </a:t>
            </a:r>
            <a:r>
              <a:rPr b="1" lang="en-US"/>
              <a:t>dashboard</a:t>
            </a:r>
            <a:r>
              <a:rPr lang="en-US"/>
              <a:t> for traffic authorities to visualize violations and hotspot areas.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40"/>
              <a:buFont typeface="Noto Sans Symbols"/>
              <a:buChar char="⮚"/>
            </a:pPr>
            <a:r>
              <a:rPr lang="en-US"/>
              <a:t>Enable real-time alerts for enforcement authorities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128270" y="363200"/>
            <a:ext cx="49836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133" name="Google Shape;133;p18"/>
          <p:cNvSpPr txBox="1"/>
          <p:nvPr>
            <p:ph idx="12" type="sldNum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34" name="Google Shape;134;p18"/>
          <p:cNvGraphicFramePr/>
          <p:nvPr/>
        </p:nvGraphicFramePr>
        <p:xfrm>
          <a:off x="128270" y="13512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{807F6D63-25D0-41AE-9290-A99F18774683}</a:tableStyleId>
              </a:tblPr>
              <a:tblGrid>
                <a:gridCol w="446400"/>
                <a:gridCol w="2638425"/>
                <a:gridCol w="2638425"/>
                <a:gridCol w="2638425"/>
                <a:gridCol w="2638425"/>
              </a:tblGrid>
              <a:tr h="495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Sr</a:t>
                      </a:r>
                      <a:endParaRPr sz="1400"/>
                    </a:p>
                  </a:txBody>
                  <a:tcPr marT="45725" marB="45725" marR="91450" marL="91450">
                    <a:solidFill>
                      <a:srgbClr val="BCC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Author</a:t>
                      </a:r>
                      <a:endParaRPr sz="1400"/>
                    </a:p>
                  </a:txBody>
                  <a:tcPr marT="45725" marB="45725" marR="91450" marL="91450">
                    <a:solidFill>
                      <a:srgbClr val="BCC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Methodology</a:t>
                      </a:r>
                      <a:endParaRPr sz="1400"/>
                    </a:p>
                  </a:txBody>
                  <a:tcPr marT="45725" marB="45725" marR="91450" marL="91450">
                    <a:solidFill>
                      <a:srgbClr val="BCC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Key Findings</a:t>
                      </a:r>
                      <a:endParaRPr sz="1400"/>
                    </a:p>
                  </a:txBody>
                  <a:tcPr marT="45725" marB="45725" marR="91450" marL="91450">
                    <a:solidFill>
                      <a:srgbClr val="BCC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Gaps</a:t>
                      </a:r>
                      <a:endParaRPr sz="1400"/>
                    </a:p>
                  </a:txBody>
                  <a:tcPr marT="45725" marB="45725" marR="91450" marL="91450">
                    <a:solidFill>
                      <a:srgbClr val="BCCAD4"/>
                    </a:solidFill>
                  </a:tcPr>
                </a:tc>
              </a:tr>
              <a:tr h="128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0070C0"/>
                          </a:solidFill>
                        </a:rPr>
                        <a:t>1</a:t>
                      </a:r>
                      <a:endParaRPr sz="1400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E1E1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Redmon et al. (2016)</a:t>
                      </a:r>
                      <a:endParaRPr b="0" sz="1400"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45725" marB="45725" marR="91450" marL="91450">
                    <a:solidFill>
                      <a:srgbClr val="E1E1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Introduced YOLO (You Only Look Once), treating object detection as a single regression problem on a grid system for real-time, single-pass detection.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1E1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Achieved significantly faster real-time performance than prior two-stage detectors while maintaining competitive accuracy. Unified architecture.</a:t>
                      </a:r>
                      <a:endParaRPr sz="1500"/>
                    </a:p>
                  </a:txBody>
                  <a:tcPr marT="45725" marB="45725" marR="91450" marL="91450">
                    <a:solidFill>
                      <a:srgbClr val="E1E1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500"/>
                        <a:t>Struggled initially with small objects, dense object clusters, and precise localization compared to two-stage methods.</a:t>
                      </a:r>
                      <a:endParaRPr sz="1500"/>
                    </a:p>
                  </a:txBody>
                  <a:tcPr marT="45725" marB="45725" marR="91450" marL="91450">
                    <a:solidFill>
                      <a:srgbClr val="E1E1E3"/>
                    </a:solidFill>
                  </a:tcPr>
                </a:tc>
              </a:tr>
              <a:tr h="117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rgbClr val="0070C0"/>
                          </a:solidFill>
                        </a:rPr>
                        <a:t>2</a:t>
                      </a:r>
                      <a:endParaRPr sz="1400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E1E1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Ren et al. (2015)</a:t>
                      </a:r>
                      <a:endParaRPr b="0" sz="1400"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45725" marB="45725" marR="91450" marL="91450">
                    <a:solidFill>
                      <a:srgbClr val="E1E1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Proposed Faster R-CNN, integrating a Region Proposal Network (RPN) directly into the CNN to generate object proposals efficiently within a two-stage detection framework.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1E1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/>
                        <a:t>RPN dramatically increased the speed of region proposal compared to methods like Selective Search, enabling near real-time high-accuracy detection. Set accuracy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500"/>
                        <a:t>benchmarks.</a:t>
                      </a:r>
                      <a:endParaRPr sz="1500"/>
                    </a:p>
                  </a:txBody>
                  <a:tcPr marT="45725" marB="45725" marR="91450" marL="91450">
                    <a:solidFill>
                      <a:srgbClr val="E1E1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/>
                        <a:t>Remained slower than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/>
                        <a:t>single-stage detectors like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/>
                        <a:t>YOLO due to its two-stage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/>
                        <a:t>nature (proposal then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500"/>
                        <a:t>classification).</a:t>
                      </a:r>
                      <a:endParaRPr sz="1500"/>
                    </a:p>
                  </a:txBody>
                  <a:tcPr marT="45725" marB="45725" marR="91450" marL="91450">
                    <a:solidFill>
                      <a:srgbClr val="E1E1E3"/>
                    </a:solidFill>
                  </a:tcPr>
                </a:tc>
              </a:tr>
            </a:tbl>
          </a:graphicData>
        </a:graphic>
      </p:graphicFrame>
      <p:sp>
        <p:nvSpPr>
          <p:cNvPr id="135" name="Google Shape;135;p18"/>
          <p:cNvSpPr/>
          <p:nvPr/>
        </p:nvSpPr>
        <p:spPr>
          <a:xfrm>
            <a:off x="128271" y="5893402"/>
            <a:ext cx="110001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00" u="sng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https://arxiv.org/pdf/1506.02640</a:t>
            </a:r>
            <a:endParaRPr b="1" i="1" sz="1000">
              <a:solidFill>
                <a:srgbClr val="0070C0"/>
              </a:solidFill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00" u="sng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https://arxiv.org/pdf/1506.01497</a:t>
            </a:r>
            <a:endParaRPr b="1" i="1" sz="1000" u="sng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2500" y="5414750"/>
            <a:ext cx="1601900" cy="14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70750" y="5259848"/>
            <a:ext cx="2671750" cy="159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University of Computer and Emerging Sciences - Wikipedia" id="138" name="Google Shape;13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47999" y="124800"/>
            <a:ext cx="1185375" cy="118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33258" y="5500250"/>
            <a:ext cx="1360317" cy="137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2180225" y="5459125"/>
            <a:ext cx="1032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YOLO:</a:t>
            </a:r>
            <a:endParaRPr sz="11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7921725" y="5483813"/>
            <a:ext cx="178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Faster R-CNN:</a:t>
            </a:r>
            <a:endParaRPr sz="13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128270" y="352125"/>
            <a:ext cx="49836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148" name="Google Shape;148;p19"/>
          <p:cNvSpPr txBox="1"/>
          <p:nvPr>
            <p:ph idx="12" type="sldNum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49" name="Google Shape;149;p19"/>
          <p:cNvGraphicFramePr/>
          <p:nvPr/>
        </p:nvGraphicFramePr>
        <p:xfrm>
          <a:off x="128270" y="15633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{807F6D63-25D0-41AE-9290-A99F18774683}</a:tableStyleId>
              </a:tblPr>
              <a:tblGrid>
                <a:gridCol w="446400"/>
                <a:gridCol w="2638425"/>
                <a:gridCol w="2638425"/>
                <a:gridCol w="2638425"/>
                <a:gridCol w="2638425"/>
              </a:tblGrid>
              <a:tr h="495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Sr</a:t>
                      </a:r>
                      <a:endParaRPr sz="1400"/>
                    </a:p>
                  </a:txBody>
                  <a:tcPr marT="45725" marB="45725" marR="91450" marL="91450">
                    <a:solidFill>
                      <a:srgbClr val="BCC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Author</a:t>
                      </a:r>
                      <a:endParaRPr sz="1400"/>
                    </a:p>
                  </a:txBody>
                  <a:tcPr marT="45725" marB="45725" marR="91450" marL="91450">
                    <a:solidFill>
                      <a:srgbClr val="BCC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Methodology</a:t>
                      </a:r>
                      <a:endParaRPr sz="1400"/>
                    </a:p>
                  </a:txBody>
                  <a:tcPr marT="45725" marB="45725" marR="91450" marL="91450">
                    <a:solidFill>
                      <a:srgbClr val="BCC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Key Findings</a:t>
                      </a:r>
                      <a:endParaRPr sz="1400"/>
                    </a:p>
                  </a:txBody>
                  <a:tcPr marT="45725" marB="45725" marR="91450" marL="91450">
                    <a:solidFill>
                      <a:srgbClr val="BCC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Gaps</a:t>
                      </a:r>
                      <a:endParaRPr sz="1400"/>
                    </a:p>
                  </a:txBody>
                  <a:tcPr marT="45725" marB="45725" marR="91450" marL="91450">
                    <a:solidFill>
                      <a:srgbClr val="BCCAD4"/>
                    </a:solidFill>
                  </a:tcPr>
                </a:tc>
              </a:tr>
              <a:tr h="128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3</a:t>
                      </a:r>
                      <a:endParaRPr sz="1400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E1E1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Prastyo et al. (2024)</a:t>
                      </a:r>
                      <a:endParaRPr b="0" sz="1400">
                        <a:latin typeface="Century Schoolbook"/>
                        <a:ea typeface="Century Schoolbook"/>
                        <a:cs typeface="Century Schoolbook"/>
                        <a:sym typeface="Century Schoolbook"/>
                      </a:endParaRPr>
                    </a:p>
                  </a:txBody>
                  <a:tcPr marT="45725" marB="45725" marR="91450" marL="91450">
                    <a:solidFill>
                      <a:srgbClr val="E1E1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/>
                        <a:t>Developed an automatic passenger counting system for public buses using CNN YOLOv8 to detect and count passengers in real-time.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1E1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500"/>
                        <a:t>Achieved high accuracy (0.82 confidence) with a front camera, but lower accuracy (0.76) with a rear camera due to object overlap.</a:t>
                      </a:r>
                      <a:endParaRPr sz="1500"/>
                    </a:p>
                  </a:txBody>
                  <a:tcPr marT="45725" marB="45725" marR="91450" marL="91450">
                    <a:solidFill>
                      <a:srgbClr val="E1E1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500"/>
                        <a:t>System accuracy is highly dependent on camera placement; object overlap in certain views (e.g., rear camera) reduces performance.</a:t>
                      </a:r>
                      <a:endParaRPr sz="1500"/>
                    </a:p>
                  </a:txBody>
                  <a:tcPr marT="45725" marB="45725" marR="91450" marL="91450">
                    <a:solidFill>
                      <a:srgbClr val="E1E1E3"/>
                    </a:solidFill>
                  </a:tcPr>
                </a:tc>
              </a:tr>
              <a:tr h="117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070C0"/>
                          </a:solidFill>
                        </a:rPr>
                        <a:t>4</a:t>
                      </a:r>
                      <a:endParaRPr sz="1400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E1E1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Usama, Hafeez Anwar &amp; Saeed Anwar (2025)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1E1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Proposed a toll collection framework using YOLO (v2-v11, incl.Nano) for vehicle type recognition, LPR localization &amp; reading. Created novel 10k image dataset addressing local challenges (decorations, occlusions)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1E1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Large YOLOv5/v8/v11 achieved ∼99% mAP@0.5. Nano variants achieved high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mAP (97–98%) suitable for edge devices (Raspberry Pi tested). Addressed specific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Pakistani vehicle/plate variations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1E1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Focused on toll context; dataset size may limit generalization. Primarily tested specific YOLO versions.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1E1E3"/>
                    </a:solidFill>
                  </a:tcPr>
                </a:tc>
              </a:tr>
            </a:tbl>
          </a:graphicData>
        </a:graphic>
      </p:graphicFrame>
      <p:sp>
        <p:nvSpPr>
          <p:cNvPr id="150" name="Google Shape;150;p19"/>
          <p:cNvSpPr/>
          <p:nvPr/>
        </p:nvSpPr>
        <p:spPr>
          <a:xfrm>
            <a:off x="128271" y="6172202"/>
            <a:ext cx="11000100" cy="8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00" u="sng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https://international.arteii.or.id/index.php/IJIES/article/view/121</a:t>
            </a:r>
            <a:endParaRPr>
              <a:solidFill>
                <a:srgbClr val="0070C0"/>
              </a:solidFill>
            </a:endParaRPr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00" u="sng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https://link.springer.com/article/10.1007/s10044-025-01443-8</a:t>
            </a:r>
            <a:endParaRPr b="1" i="1" sz="1000" u="sng">
              <a:solidFill>
                <a:srgbClr val="0070C0"/>
              </a:solidFill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pic>
        <p:nvPicPr>
          <p:cNvPr descr="National University of Computer and Emerging Sciences - Wikipedia" id="151" name="Google Shape;15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47999" y="124800"/>
            <a:ext cx="1185375" cy="11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>
            <p:ph type="title"/>
          </p:nvPr>
        </p:nvSpPr>
        <p:spPr>
          <a:xfrm>
            <a:off x="209275" y="-102375"/>
            <a:ext cx="5052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Use-Case Diagram</a:t>
            </a:r>
            <a:endParaRPr/>
          </a:p>
        </p:txBody>
      </p:sp>
      <p:sp>
        <p:nvSpPr>
          <p:cNvPr id="157" name="Google Shape;157;p20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ational University of Computer and Emerging Sciences - Wikipedia"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7999" y="124800"/>
            <a:ext cx="1185375" cy="118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 title="Use Case Diagram.drawio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58225"/>
            <a:ext cx="11140450" cy="554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>
            <p:ph type="title"/>
          </p:nvPr>
        </p:nvSpPr>
        <p:spPr>
          <a:xfrm>
            <a:off x="805752" y="171090"/>
            <a:ext cx="43740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entury Schoolbook"/>
              <a:buNone/>
            </a:pPr>
            <a:br>
              <a:rPr lang="en-US" sz="2760"/>
            </a:br>
            <a:r>
              <a:rPr lang="en-US" sz="2760"/>
              <a:t>Activity Diagram</a:t>
            </a:r>
            <a:endParaRPr sz="2760"/>
          </a:p>
        </p:txBody>
      </p:sp>
      <p:sp>
        <p:nvSpPr>
          <p:cNvPr id="165" name="Google Shape;165;p21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ational University of Computer and Emerging Sciences - Wikipedia" id="166" name="Google Shape;1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8925" y="229338"/>
            <a:ext cx="481425" cy="48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/>
          <p:nvPr/>
        </p:nvSpPr>
        <p:spPr>
          <a:xfrm>
            <a:off x="1750325" y="5854900"/>
            <a:ext cx="542400" cy="5424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1668475" y="5849050"/>
            <a:ext cx="73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Display</a:t>
            </a:r>
            <a:endParaRPr b="1" sz="1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Message</a:t>
            </a:r>
            <a:endParaRPr b="1" sz="1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131550" y="939618"/>
            <a:ext cx="43740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entury Schoolbook"/>
              <a:buNone/>
            </a:pPr>
            <a:r>
              <a:rPr lang="en-US" sz="1800"/>
              <a:t>Camera:</a:t>
            </a:r>
            <a:endParaRPr sz="1800"/>
          </a:p>
        </p:txBody>
      </p:sp>
      <p:pic>
        <p:nvPicPr>
          <p:cNvPr id="170" name="Google Shape;170;p21"/>
          <p:cNvPicPr preferRelativeResize="0"/>
          <p:nvPr/>
        </p:nvPicPr>
        <p:blipFill rotWithShape="1">
          <a:blip r:embed="rId4">
            <a:alphaModFix/>
          </a:blip>
          <a:srcRect b="29053" l="0" r="0" t="0"/>
          <a:stretch/>
        </p:blipFill>
        <p:spPr>
          <a:xfrm>
            <a:off x="0" y="1164925"/>
            <a:ext cx="11292851" cy="208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131550" y="3353088"/>
            <a:ext cx="9600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Admin:</a:t>
            </a:r>
            <a:endParaRPr sz="1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72" name="Google Shape;172;p21" title="diagram-export-28-10-2025-12_06_07.png"/>
          <p:cNvPicPr preferRelativeResize="0"/>
          <p:nvPr/>
        </p:nvPicPr>
        <p:blipFill rotWithShape="1">
          <a:blip r:embed="rId5">
            <a:alphaModFix/>
          </a:blip>
          <a:srcRect b="2296" l="0" r="0" t="0"/>
          <a:stretch/>
        </p:blipFill>
        <p:spPr>
          <a:xfrm>
            <a:off x="0" y="3883275"/>
            <a:ext cx="11292851" cy="272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>
            <p:ph type="title"/>
          </p:nvPr>
        </p:nvSpPr>
        <p:spPr>
          <a:xfrm>
            <a:off x="448050" y="250975"/>
            <a:ext cx="46800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lang="en-US" sz="4000"/>
              <a:t>Sequence Diagram</a:t>
            </a:r>
            <a:endParaRPr sz="4000"/>
          </a:p>
        </p:txBody>
      </p:sp>
      <p:sp>
        <p:nvSpPr>
          <p:cNvPr id="178" name="Google Shape;178;p22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ational University of Computer and Emerging Sciences - Wikipedia" id="179" name="Google Shape;1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9571" y="66429"/>
            <a:ext cx="783150" cy="78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 title="System Sequence Diagram SS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25375"/>
            <a:ext cx="11292849" cy="5939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>
            <p:ph type="title"/>
          </p:nvPr>
        </p:nvSpPr>
        <p:spPr>
          <a:xfrm>
            <a:off x="2835675" y="609550"/>
            <a:ext cx="56913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Schoolbook"/>
              <a:buNone/>
            </a:pPr>
            <a:r>
              <a:rPr lang="en-US" sz="2400"/>
              <a:t>System Architecture Diagram</a:t>
            </a:r>
            <a:endParaRPr sz="2400"/>
          </a:p>
        </p:txBody>
      </p:sp>
      <p:sp>
        <p:nvSpPr>
          <p:cNvPr id="186" name="Google Shape;186;p23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ational University of Computer and Emerging Sciences - Wikipedia" id="187" name="Google Shape;18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4837" y="181947"/>
            <a:ext cx="1021263" cy="102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55650"/>
            <a:ext cx="11140452" cy="534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title"/>
          </p:nvPr>
        </p:nvSpPr>
        <p:spPr>
          <a:xfrm>
            <a:off x="489000" y="325975"/>
            <a:ext cx="53967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lang="en-US" sz="4000"/>
              <a:t>DFD Diagram Level 0</a:t>
            </a:r>
            <a:endParaRPr sz="4000"/>
          </a:p>
        </p:txBody>
      </p:sp>
      <p:sp>
        <p:nvSpPr>
          <p:cNvPr id="194" name="Google Shape;194;p24"/>
          <p:cNvSpPr txBox="1"/>
          <p:nvPr>
            <p:ph idx="12" type="sldNum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ational University of Computer and Emerging Sciences - Wikipedia" id="195" name="Google Shape;19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9217" y="66436"/>
            <a:ext cx="1193497" cy="119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275" y="2067900"/>
            <a:ext cx="11026449" cy="37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>
            <p:ph type="title"/>
          </p:nvPr>
        </p:nvSpPr>
        <p:spPr>
          <a:xfrm>
            <a:off x="489000" y="325975"/>
            <a:ext cx="53967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lang="en-US" sz="4000"/>
              <a:t>DFD Diagram Level 1</a:t>
            </a:r>
            <a:endParaRPr sz="4000"/>
          </a:p>
        </p:txBody>
      </p:sp>
      <p:sp>
        <p:nvSpPr>
          <p:cNvPr id="202" name="Google Shape;202;p25"/>
          <p:cNvSpPr txBox="1"/>
          <p:nvPr>
            <p:ph idx="12" type="sldNum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ational University of Computer and Emerging Sciences - Wikipedia" id="203" name="Google Shape;20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9217" y="66436"/>
            <a:ext cx="1193497" cy="119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1506" y="1000375"/>
            <a:ext cx="3144943" cy="5694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2951190" y="635634"/>
            <a:ext cx="53685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61B"/>
              </a:buClr>
              <a:buSzPct val="100000"/>
              <a:buFont typeface="Century Schoolbook"/>
              <a:buNone/>
            </a:pPr>
            <a:r>
              <a:rPr i="0" lang="en-US">
                <a:solidFill>
                  <a:srgbClr val="29261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Wireframe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10" name="Google Shape;210;p26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ational University of Computer and Emerging Sciences - Wikipedia" id="211" name="Google Shape;21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7650" y="232991"/>
            <a:ext cx="1472478" cy="147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625" y="1902750"/>
            <a:ext cx="11034448" cy="455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387822" y="10"/>
            <a:ext cx="9692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UI (Overview)</a:t>
            </a:r>
            <a:endParaRPr/>
          </a:p>
        </p:txBody>
      </p:sp>
      <p:sp>
        <p:nvSpPr>
          <p:cNvPr id="218" name="Google Shape;218;p27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9" name="Google Shape;21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825" y="1720275"/>
            <a:ext cx="10651948" cy="485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University of Computer and Emerging Sciences - Wikipedia" id="220" name="Google Shape;22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47999" y="124800"/>
            <a:ext cx="1185375" cy="11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type="title"/>
          </p:nvPr>
        </p:nvSpPr>
        <p:spPr>
          <a:xfrm>
            <a:off x="387825" y="348029"/>
            <a:ext cx="96927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Sample test cases </a:t>
            </a:r>
            <a:endParaRPr/>
          </a:p>
        </p:txBody>
      </p:sp>
      <p:sp>
        <p:nvSpPr>
          <p:cNvPr id="226" name="Google Shape;226;p28"/>
          <p:cNvSpPr txBox="1"/>
          <p:nvPr>
            <p:ph idx="12" type="sldNum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27" name="Google Shape;227;p28"/>
          <p:cNvGraphicFramePr/>
          <p:nvPr/>
        </p:nvGraphicFramePr>
        <p:xfrm>
          <a:off x="500400" y="128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{6E4A0C69-7F99-44FA-BABA-86878A30CECB}</a:tableStyleId>
              </a:tblPr>
              <a:tblGrid>
                <a:gridCol w="542450"/>
                <a:gridCol w="1085850"/>
                <a:gridCol w="3532875"/>
                <a:gridCol w="5067175"/>
              </a:tblGrid>
              <a:tr h="55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Test ID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Description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Test Steps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Expected Result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4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TC-01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Violation: Bus Overcrowding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1. Input a video segment showing a bus with 3 people detected as 'Passenger_Unsafe'.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1. System classifies vehicle as 'Bus'.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2. System identifies 'Unsafe Condition'.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 System logs violation with person count &gt;= 3.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TC-02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LPR Success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1. Use video from TC-01 where the bus plate 'ABC-123' is clearly visible.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1. Violation logged (as per TC-01).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2. LPR module processes the frame.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 Violation record in DB includes plate_number 'ABC-123'.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0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TC-03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LPR Failure (Obscured)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1. Input video of Chingchi with unsafe passengers, but plate is muddy/unreadable.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1. System classifies as 'Chingchi'.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2. System identifies 'Unsafe Condition'.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 Violation logged with person count &gt; 0.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 Violation record in DB indicates plate_number as 'unreadable' or NULL.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0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TC-04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No Violation: Normal Suzuki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1. Input video of a Suzuki pickup with passengers only inside the cabin.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1. System classifies vehicle as 'Suzuki'.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2. No 'Passenger_Unsafe' detected.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 No 'Unsafe Condition' flagged.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4. No violation record created.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TC-05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Dashboard Search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1. Ensure violations from TC-01/TC-02 exist. 2. Access dashboard, log in.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 Search for plate 'ABC-123'.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1. Login successful.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2. Search results display the violation record(s) corresponding to TC-01/TC-02.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0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TC-06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Dashboard Filter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1. Ensure violations for Bus (TC-01) and Chingchi (TC-03) exist.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2. Access dashboard, log in.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3. Filter by Vehicle Type: 'Bus'.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1. Login successful.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2. Filtered list shows TC-01 violation but not TC-03 violation.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National University of Computer and Emerging Sciences - Wikipedia" id="228" name="Google Shape;22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6650" y="124800"/>
            <a:ext cx="1016725" cy="101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 txBox="1"/>
          <p:nvPr>
            <p:ph idx="12" type="sldNum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29"/>
          <p:cNvSpPr txBox="1"/>
          <p:nvPr>
            <p:ph type="title"/>
          </p:nvPr>
        </p:nvSpPr>
        <p:spPr>
          <a:xfrm>
            <a:off x="294875" y="443350"/>
            <a:ext cx="10437300" cy="74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Team Work</a:t>
            </a:r>
            <a:endParaRPr/>
          </a:p>
        </p:txBody>
      </p:sp>
      <p:sp>
        <p:nvSpPr>
          <p:cNvPr id="236" name="Google Shape;236;p29"/>
          <p:cNvSpPr txBox="1"/>
          <p:nvPr/>
        </p:nvSpPr>
        <p:spPr>
          <a:xfrm>
            <a:off x="473325" y="1634409"/>
            <a:ext cx="3559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</a:pPr>
            <a:r>
              <a:rPr b="1"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HAMZA</a:t>
            </a:r>
            <a:endParaRPr b="1"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Data Collection</a:t>
            </a:r>
            <a:endParaRPr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Model Training</a:t>
            </a:r>
            <a:endParaRPr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Integration</a:t>
            </a:r>
            <a:endParaRPr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4355825" y="1491963"/>
            <a:ext cx="3330900" cy="15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</a:pPr>
            <a:r>
              <a:rPr b="1"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ABDULLAH</a:t>
            </a:r>
            <a:endParaRPr b="1"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Data Preprocessing</a:t>
            </a:r>
            <a:endParaRPr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Model Validation &amp; Testing</a:t>
            </a:r>
            <a:endParaRPr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Dashboard Development</a:t>
            </a:r>
            <a:endParaRPr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38" name="Google Shape;238;p29"/>
          <p:cNvSpPr txBox="1"/>
          <p:nvPr/>
        </p:nvSpPr>
        <p:spPr>
          <a:xfrm>
            <a:off x="7544775" y="1563184"/>
            <a:ext cx="3559500" cy="12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288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</a:pPr>
            <a:r>
              <a:rPr b="1"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MUSTAFA</a:t>
            </a:r>
            <a:endParaRPr b="1"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Data Annotation</a:t>
            </a:r>
            <a:endParaRPr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Front-end / UI Implementation</a:t>
            </a:r>
            <a:endParaRPr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</a:pPr>
            <a:r>
              <a:rPr lang="en-US" sz="1600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Final System Testing</a:t>
            </a:r>
            <a:endParaRPr sz="1600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39" name="Google Shape;23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380" y="3362150"/>
            <a:ext cx="8217543" cy="580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University of Computer and Emerging Sciences - Wikipedia" id="240" name="Google Shape;24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39550" y="16193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 txBox="1"/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Future Work</a:t>
            </a:r>
            <a:endParaRPr/>
          </a:p>
        </p:txBody>
      </p:sp>
      <p:sp>
        <p:nvSpPr>
          <p:cNvPr id="246" name="Google Shape;246;p30"/>
          <p:cNvSpPr txBox="1"/>
          <p:nvPr>
            <p:ph idx="1" type="body"/>
          </p:nvPr>
        </p:nvSpPr>
        <p:spPr>
          <a:xfrm>
            <a:off x="1261872" y="1933475"/>
            <a:ext cx="85953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760"/>
              <a:buFont typeface="Noto Sans Symbols"/>
              <a:buChar char="⮚"/>
            </a:pPr>
            <a:r>
              <a:rPr lang="en-US" sz="2200"/>
              <a:t>Pose Estimation (skeletons for passenger counting from inside view).</a:t>
            </a:r>
            <a:endParaRPr sz="2200"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760"/>
              <a:buFont typeface="Noto Sans Symbols"/>
              <a:buChar char="⮚"/>
            </a:pPr>
            <a:r>
              <a:rPr lang="en-US" sz="2200"/>
              <a:t>Behavioral Safety Analysis (helmets, seatbelts, footboard hanging).</a:t>
            </a:r>
            <a:endParaRPr sz="2200"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760"/>
              <a:buFont typeface="Noto Sans Symbols"/>
              <a:buChar char="⮚"/>
            </a:pPr>
            <a:r>
              <a:rPr lang="en-US" sz="2200"/>
              <a:t>Explainable AI (XAI) for transparent decision-making.</a:t>
            </a:r>
            <a:endParaRPr sz="2200"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760"/>
              <a:buFont typeface="Noto Sans Symbols"/>
              <a:buChar char="⮚"/>
            </a:pPr>
            <a:r>
              <a:rPr lang="en-US" sz="2200"/>
              <a:t>Edge AI with Federated Learning (on-camera processing).</a:t>
            </a:r>
            <a:endParaRPr sz="2200"/>
          </a:p>
          <a:p>
            <a:pPr indent="-182880" lvl="0" marL="18288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760"/>
              <a:buFont typeface="Noto Sans Symbols"/>
              <a:buChar char="⮚"/>
            </a:pPr>
            <a:r>
              <a:rPr lang="en-US" sz="2200"/>
              <a:t>Predictive Modeling (heatmaps of violations)</a:t>
            </a:r>
            <a:r>
              <a:rPr lang="en-US" sz="2200"/>
              <a:t>.</a:t>
            </a:r>
            <a:endParaRPr sz="2200"/>
          </a:p>
        </p:txBody>
      </p:sp>
      <p:sp>
        <p:nvSpPr>
          <p:cNvPr id="247" name="Google Shape;247;p30"/>
          <p:cNvSpPr txBox="1"/>
          <p:nvPr>
            <p:ph idx="12" type="sldNum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ational University of Computer and Emerging Sciences - Wikipedia" id="248" name="Google Shape;24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