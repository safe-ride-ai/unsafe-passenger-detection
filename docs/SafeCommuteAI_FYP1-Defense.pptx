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Century Schoolbook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D50201-1E7C-4943-A8C5-DCD0A9F5A40A}">
  <a:tblStyle styleId="{EDD50201-1E7C-4943-A8C5-DCD0A9F5A40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Schoolbook-regular.fntdata"/><Relationship Id="rId11" Type="http://schemas.openxmlformats.org/officeDocument/2006/relationships/slide" Target="slides/slide5.xml"/><Relationship Id="rId22" Type="http://schemas.openxmlformats.org/officeDocument/2006/relationships/font" Target="fonts/CenturySchoolbook-italic.fntdata"/><Relationship Id="rId10" Type="http://schemas.openxmlformats.org/officeDocument/2006/relationships/slide" Target="slides/slide4.xml"/><Relationship Id="rId21" Type="http://schemas.openxmlformats.org/officeDocument/2006/relationships/font" Target="fonts/CenturySchoolbook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CenturySchoolbook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e8c60031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7e8c60031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7e8c60031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d7c0df48b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7d7c0df48b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7d7c0df48b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d7c0df48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7d7c0df48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7d7c0df48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f19c0d7461f46b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f19c0d7461f46b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f19c0d7461f46b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343437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343437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entury Schoolbook"/>
              <a:buNone/>
              <a:defRPr b="0"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595959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1261872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53" name="Google Shape;53;p7"/>
          <p:cNvSpPr txBox="1"/>
          <p:nvPr>
            <p:ph idx="2" type="body"/>
          </p:nvPr>
        </p:nvSpPr>
        <p:spPr>
          <a:xfrm>
            <a:off x="6126480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54" name="Google Shape;54;p7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" type="body"/>
          </p:nvPr>
        </p:nvSpPr>
        <p:spPr>
          <a:xfrm>
            <a:off x="1261872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8"/>
          <p:cNvSpPr txBox="1"/>
          <p:nvPr>
            <p:ph idx="2" type="body"/>
          </p:nvPr>
        </p:nvSpPr>
        <p:spPr>
          <a:xfrm>
            <a:off x="1261872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61" name="Google Shape;61;p8"/>
          <p:cNvSpPr txBox="1"/>
          <p:nvPr>
            <p:ph idx="3" type="body"/>
          </p:nvPr>
        </p:nvSpPr>
        <p:spPr>
          <a:xfrm>
            <a:off x="6126480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20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8"/>
          <p:cNvSpPr txBox="1"/>
          <p:nvPr>
            <p:ph idx="4" type="body"/>
          </p:nvPr>
        </p:nvSpPr>
        <p:spPr>
          <a:xfrm>
            <a:off x="6126480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63" name="Google Shape;63;p8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841248" y="457200"/>
            <a:ext cx="320040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Schoolbook"/>
              <a:buNone/>
              <a:defRPr b="0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504267" y="685800"/>
            <a:ext cx="6079066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841248" y="2099734"/>
            <a:ext cx="32004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9" name="Google Shape;79;p11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2"/>
          <p:cNvSpPr txBox="1"/>
          <p:nvPr>
            <p:ph type="title"/>
          </p:nvPr>
        </p:nvSpPr>
        <p:spPr>
          <a:xfrm>
            <a:off x="914400" y="5257800"/>
            <a:ext cx="9982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Schoolbook"/>
              <a:buNone/>
              <a:defRPr b="0"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/>
          <p:nvPr>
            <p:ph idx="2" type="pic"/>
          </p:nvPr>
        </p:nvSpPr>
        <p:spPr>
          <a:xfrm>
            <a:off x="0" y="0"/>
            <a:ext cx="11292840" cy="51289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6" name="Google Shape;86;p12"/>
          <p:cNvSpPr txBox="1"/>
          <p:nvPr>
            <p:ph idx="1" type="body"/>
          </p:nvPr>
        </p:nvSpPr>
        <p:spPr>
          <a:xfrm>
            <a:off x="914400" y="6108589"/>
            <a:ext cx="9982200" cy="597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7" name="Google Shape;87;p12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" type="body"/>
          </p:nvPr>
        </p:nvSpPr>
        <p:spPr>
          <a:xfrm rot="5400000">
            <a:off x="3383884" y="-293212"/>
            <a:ext cx="4351337" cy="8595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 rot="5400000">
            <a:off x="6938169" y="2091531"/>
            <a:ext cx="5897562" cy="24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" type="body"/>
          </p:nvPr>
        </p:nvSpPr>
        <p:spPr>
          <a:xfrm rot="5400000">
            <a:off x="1680369" y="-537369"/>
            <a:ext cx="589756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A7A1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Schoolbook"/>
              <a:buNone/>
              <a:defRPr b="0" i="0" sz="44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434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  <a:defRPr b="0" i="0" sz="4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9.jpg"/><Relationship Id="rId7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tribune.com.pk/story/2406116/action-sought-against-overloaded-public-transport" TargetMode="External"/><Relationship Id="rId4" Type="http://schemas.openxmlformats.org/officeDocument/2006/relationships/hyperlink" Target="https://www.nation.com.pk/11-Jun-2025/plan-finalised-to-enforce-ban-on-passengers-sitting-on-rooftops-of-vehicles" TargetMode="External"/><Relationship Id="rId11" Type="http://schemas.openxmlformats.org/officeDocument/2006/relationships/hyperlink" Target="https://citinewsroom.com/2024/06/africa-must-build-a-more-robust-public-transport-system-ofori-asiamah" TargetMode="External"/><Relationship Id="rId10" Type="http://schemas.openxmlformats.org/officeDocument/2006/relationships/hyperlink" Target="https://www.newsday.co.zw/southerneye/local-news/article/200028837/public-transport-overloading-increases-road-accidents" TargetMode="External"/><Relationship Id="rId12" Type="http://schemas.openxmlformats.org/officeDocument/2006/relationships/image" Target="../media/image1.png"/><Relationship Id="rId9" Type="http://schemas.openxmlformats.org/officeDocument/2006/relationships/hyperlink" Target="https://www.researchgate.net/publication/369006446_Prevalence_of_road_traffic_injuries_in_South_East_and_South_Asian_region_-_A_systematic_review" TargetMode="External"/><Relationship Id="rId5" Type="http://schemas.openxmlformats.org/officeDocument/2006/relationships/hyperlink" Target="https://www.iru.org/news-resources/newsroom/pakistan-seeks-international-expertise-and-standards-curb-road-accidents" TargetMode="External"/><Relationship Id="rId6" Type="http://schemas.openxmlformats.org/officeDocument/2006/relationships/hyperlink" Target="https://www.researchgate.net/publication/369006446_Prevalence_of_road_traffic_injuries_in_South_East_and_South_Asian_region_-_A_systematic_review" TargetMode="External"/><Relationship Id="rId7" Type="http://schemas.openxmlformats.org/officeDocument/2006/relationships/hyperlink" Target="https://www.researchgate.net/publication/369006446_Prevalence_of_road_traffic_injuries_in_South_East_and_South_Asian_region_-_A_systematic_review" TargetMode="External"/><Relationship Id="rId8" Type="http://schemas.openxmlformats.org/officeDocument/2006/relationships/hyperlink" Target="https://www.researchgate.net/publication/369006446_Prevalence_of_road_traffic_injuries_in_South_East_and_South_Asian_region_-_A_systematic_re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3437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ctrTitle"/>
          </p:nvPr>
        </p:nvSpPr>
        <p:spPr>
          <a:xfrm>
            <a:off x="1261872" y="758952"/>
            <a:ext cx="9418200" cy="404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80"/>
              <a:buFont typeface="Century Schoolbook"/>
              <a:buNone/>
            </a:pPr>
            <a:r>
              <a:rPr lang="en-US" sz="5700"/>
              <a:t>Image based Real-time passenger vehicle unsafe overcrowded detection using Deep Learning</a:t>
            </a:r>
            <a:endParaRPr sz="5700"/>
          </a:p>
        </p:txBody>
      </p:sp>
      <p:sp>
        <p:nvSpPr>
          <p:cNvPr id="107" name="Google Shape;107;p15"/>
          <p:cNvSpPr txBox="1"/>
          <p:nvPr>
            <p:ph idx="1" type="subTitle"/>
          </p:nvPr>
        </p:nvSpPr>
        <p:spPr>
          <a:xfrm>
            <a:off x="1261875" y="4800600"/>
            <a:ext cx="5316300" cy="18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Group Members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0000"/>
              <a:buNone/>
            </a:pPr>
            <a:r>
              <a:rPr lang="en-US"/>
              <a:t>Abdullah Aamir (22P-9235)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0000"/>
              <a:buNone/>
            </a:pPr>
            <a:r>
              <a:rPr lang="en-US"/>
              <a:t>Hamza (</a:t>
            </a:r>
            <a:r>
              <a:rPr lang="en-US"/>
              <a:t>22P-9222</a:t>
            </a:r>
            <a:r>
              <a:rPr lang="en-US"/>
              <a:t>)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0000"/>
              <a:buNone/>
            </a:pPr>
            <a:r>
              <a:rPr lang="en-US"/>
              <a:t>Mustafa </a:t>
            </a:r>
            <a:r>
              <a:rPr lang="en-US"/>
              <a:t>(22P-9221)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792025" y="4800600"/>
            <a:ext cx="4867221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Arial"/>
              <a:buNone/>
            </a:pPr>
            <a:r>
              <a:rPr b="0" i="0" lang="en-US" sz="2200" u="none" cap="none" strike="noStrike">
                <a:solidFill>
                  <a:srgbClr val="BFBF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Supervisor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Arial"/>
              <a:buNone/>
            </a:pPr>
            <a:r>
              <a:rPr lang="en-US" sz="2200">
                <a:solidFill>
                  <a:srgbClr val="BFBF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Sir. Fazlebasit</a:t>
            </a:r>
            <a:endParaRPr sz="2200">
              <a:solidFill>
                <a:srgbClr val="BFBFB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Arial"/>
              <a:buNone/>
            </a:pPr>
            <a:r>
              <a:t/>
            </a:r>
            <a:endParaRPr sz="2200">
              <a:solidFill>
                <a:srgbClr val="BFBFB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tional University of Computer and Emerging Sciences - Wikipedia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468" y="109250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545372" y="556260"/>
            <a:ext cx="969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545374" y="1950550"/>
            <a:ext cx="6517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55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Unsafe public transport</a:t>
            </a:r>
            <a:r>
              <a:rPr lang="en-US"/>
              <a:t> is a major safety issue in South Asia &amp; Africa.</a:t>
            </a:r>
            <a:endParaRPr/>
          </a:p>
          <a:p>
            <a:pPr indent="-1955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Passengers often:</a:t>
            </a:r>
            <a:endParaRPr b="1"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Sit on rooftops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Hang dangerously outside vehicles</a:t>
            </a:r>
            <a:endParaRPr/>
          </a:p>
          <a:p>
            <a:pPr indent="-1955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Leads to:</a:t>
            </a:r>
            <a:r>
              <a:rPr lang="en-US"/>
              <a:t> Accidents, fatalities, traffic chaos</a:t>
            </a:r>
            <a:endParaRPr/>
          </a:p>
          <a:p>
            <a:pPr indent="-1955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Current monitoring:</a:t>
            </a:r>
            <a:r>
              <a:rPr lang="en-US"/>
              <a:t> Manual &amp; inconsistent</a:t>
            </a:r>
            <a:endParaRPr/>
          </a:p>
          <a:p>
            <a:pPr indent="-1955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Automated, Real time detection</a:t>
            </a:r>
            <a:r>
              <a:rPr lang="en-US"/>
              <a:t> to support traffic enforcement.</a:t>
            </a:r>
            <a:endParaRPr/>
          </a:p>
        </p:txBody>
      </p:sp>
      <p:pic>
        <p:nvPicPr>
          <p:cNvPr descr="National University of Computer and Emerging Sciences - Wikipedia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b="1" lang="en-US"/>
              <a:t>If we do not build this project:</a:t>
            </a:r>
            <a:endParaRPr b="1"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Unsafe practices continue unchecked.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More accidents &amp; preventable deaths.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Manual monitoring remains inefficient.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Violations continues with added corruption.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b="1" lang="en-US"/>
              <a:t>With Smart System:</a:t>
            </a:r>
            <a:endParaRPr b="1"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Smarter enforcement.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Safer public transport.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Reduced accidents &amp; loss of life.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Automated system, reduces need to appear physically.</a:t>
            </a:r>
            <a:endParaRPr/>
          </a:p>
        </p:txBody>
      </p:sp>
      <p:sp>
        <p:nvSpPr>
          <p:cNvPr id="124" name="Google Shape;124;p17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ational University of Computer and Emerging Sciences - Wikipedia"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South Asian &amp; African public transport = dangerously overloaded vehicles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No automated detection system for unsafe passenger behaviors.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Authorities lack real-time alerts &amp; evidence-based enforcement tools.</a:t>
            </a:r>
            <a:endParaRPr/>
          </a:p>
        </p:txBody>
      </p:sp>
      <p:sp>
        <p:nvSpPr>
          <p:cNvPr id="132" name="Google Shape;132;p18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1225" y="3353575"/>
            <a:ext cx="4226626" cy="2826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University of Computer and Emerging Sciences - Wikipedia" id="134" name="Google Shape;13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AI-based system using traffic/CCTV cameras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b="1" lang="en-US"/>
              <a:t>Detects: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Vehicles such as bus, suzuki, chingchi.</a:t>
            </a:r>
            <a:endParaRPr b="1"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Roof passengers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Hanging outside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b="1" lang="en-US"/>
              <a:t>Generates:</a:t>
            </a:r>
            <a:endParaRPr b="1"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Real-time alerts for traffic police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Violation logs with evidence (image/video)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Dashboard with stats</a:t>
            </a:r>
            <a:endParaRPr/>
          </a:p>
        </p:txBody>
      </p:sp>
      <p:sp>
        <p:nvSpPr>
          <p:cNvPr id="141" name="Google Shape;141;p19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ational University of Computer and Emerging Sciences - Wikipedia" id="142" name="Google Shape;14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9375" y="1911225"/>
            <a:ext cx="3830750" cy="418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Scope of the project</a:t>
            </a:r>
            <a:endParaRPr/>
          </a:p>
        </p:txBody>
      </p:sp>
      <p:sp>
        <p:nvSpPr>
          <p:cNvPr id="149" name="Google Shape;149;p20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ational University of Computer and Emerging Sciences - Wikipedia" id="150" name="Google Shape;1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1261872" y="1828800"/>
            <a:ext cx="85953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1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b="1" lang="en-US"/>
              <a:t>Scope:</a:t>
            </a:r>
            <a:endParaRPr b="1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Dataset collection (custom dataset in Pakistan)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Dataset Annotation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AI detection model training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Classify three types of vehicles (suzuki, bus, chingchi)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Real-time violation classification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License plate detection and sending it to authorities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Dashboard for authorities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Count number of people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Goals</a:t>
            </a:r>
            <a:endParaRPr/>
          </a:p>
        </p:txBody>
      </p:sp>
      <p:sp>
        <p:nvSpPr>
          <p:cNvPr id="157" name="Google Shape;157;p21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21"/>
          <p:cNvSpPr txBox="1"/>
          <p:nvPr>
            <p:ph idx="1" type="body"/>
          </p:nvPr>
        </p:nvSpPr>
        <p:spPr>
          <a:xfrm>
            <a:off x="1261872" y="1828800"/>
            <a:ext cx="85953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Improve road safety via AI automation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Provide traffic police with scalable monitoring tools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Build first annotated dataset of unsafe transport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Deliver a working prototype with dashboard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ile:Sustainable Development Goal 03GoodHealth.svg - Wikimedia Commons" id="159" name="Google Shape;15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3582" y="3642336"/>
            <a:ext cx="2029967" cy="20299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Sustainable Development Goal 11.png - Wikimedia Commons" id="160" name="Google Shape;16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2694" y="3642336"/>
            <a:ext cx="2029970" cy="2029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University of Computer and Emerging Sciences - Wikipedia" id="161" name="Google Shape;16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>
            <p:ph idx="12" type="sldNum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533997" y="-276365"/>
            <a:ext cx="969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Dataset</a:t>
            </a:r>
            <a:endParaRPr sz="44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3600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sz="3600">
              <a:solidFill>
                <a:srgbClr val="8E8E93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graphicFrame>
        <p:nvGraphicFramePr>
          <p:cNvPr id="170" name="Google Shape;170;p22"/>
          <p:cNvGraphicFramePr/>
          <p:nvPr/>
        </p:nvGraphicFramePr>
        <p:xfrm>
          <a:off x="623250" y="113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{EDD50201-1E7C-4943-A8C5-DCD0A9F5A40A}</a:tableStyleId>
              </a:tblPr>
              <a:tblGrid>
                <a:gridCol w="1565100"/>
                <a:gridCol w="8583700"/>
              </a:tblGrid>
              <a:tr h="38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Aspect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Details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Total Images (Planned)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5,000 – 6,000 labeled images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Vehicle Types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Suzuki pickups, Buses, Chingchi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Scenarios Covered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 </a:t>
                      </a:r>
                      <a:r>
                        <a:rPr lang="en-US"/>
                        <a:t>Normal vehicles (not overloaded)</a:t>
                      </a:r>
                      <a:br>
                        <a:rPr lang="en-US"/>
                      </a:br>
                      <a:r>
                        <a:rPr lang="en-US"/>
                        <a:t>- Overloaded vehicles (roof passengers,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Passengers hanging outside, Back/side overloaded vehicles</a:t>
                      </a:r>
                      <a:r>
                        <a:rPr lang="en-US"/>
                        <a:t>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Data Sources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Custom street collection, CCTV footage, Online repositories, Crowdsourced images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Annotation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Bounding boxes for vehicles and 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p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assengers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1" name="Google Shape;17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980" y="4190911"/>
            <a:ext cx="2498137" cy="2498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1362" y="4175463"/>
            <a:ext cx="1422201" cy="252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33565" y="4175475"/>
            <a:ext cx="1441873" cy="252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75438" y="4185375"/>
            <a:ext cx="1195875" cy="2509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68934" y="4179850"/>
            <a:ext cx="4442426" cy="2498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idx="12" type="sldNum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23"/>
          <p:cNvSpPr txBox="1"/>
          <p:nvPr>
            <p:ph type="title"/>
          </p:nvPr>
        </p:nvSpPr>
        <p:spPr>
          <a:xfrm>
            <a:off x="1261872" y="365760"/>
            <a:ext cx="969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83" name="Google Shape;183;p23"/>
          <p:cNvSpPr txBox="1"/>
          <p:nvPr>
            <p:ph idx="1" type="body"/>
          </p:nvPr>
        </p:nvSpPr>
        <p:spPr>
          <a:xfrm>
            <a:off x="1261872" y="1821000"/>
            <a:ext cx="85953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1" marL="457200" rtl="0" algn="l"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b="1" lang="en-US"/>
              <a:t>FYP-I (Semester 1):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Dataset collection &amp; annotation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Model selection &amp; initial training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Basic detection prototype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182880" lvl="1" marL="457200" rtl="0" algn="l"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b="1" lang="en-US"/>
              <a:t>FYP-II (Semester 2):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Real-time detection pipeline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Dashboard development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Alerts &amp; evidence logging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Final testing &amp; evaluation</a:t>
            </a:r>
            <a:endParaRPr sz="1600">
              <a:solidFill>
                <a:srgbClr val="262626"/>
              </a:solidFill>
            </a:endParaRPr>
          </a:p>
        </p:txBody>
      </p:sp>
      <p:pic>
        <p:nvPicPr>
          <p:cNvPr descr="National University of Computer and Emerging Sciences - Wikipedia" id="184" name="Google Shape;18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1" name="Google Shape;19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850" y="598225"/>
            <a:ext cx="11082026" cy="566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Expected Result</a:t>
            </a:r>
            <a:endParaRPr/>
          </a:p>
        </p:txBody>
      </p:sp>
      <p:sp>
        <p:nvSpPr>
          <p:cNvPr id="197" name="Google Shape;197;p25"/>
          <p:cNvSpPr txBox="1"/>
          <p:nvPr>
            <p:ph idx="1" type="body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b="1" lang="en-US"/>
              <a:t>AI system</a:t>
            </a:r>
            <a:r>
              <a:rPr lang="en-US"/>
              <a:t> detects </a:t>
            </a:r>
            <a:r>
              <a:rPr b="1" lang="en-US"/>
              <a:t>unsafe behaviors in real-time</a:t>
            </a:r>
            <a:endParaRPr b="1"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b="1" lang="en-US"/>
              <a:t>Dashboard displays:</a:t>
            </a:r>
            <a:endParaRPr b="1"/>
          </a:p>
          <a:p>
            <a:pPr indent="-3302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Violation counts</a:t>
            </a:r>
            <a:endParaRPr/>
          </a:p>
          <a:p>
            <a:pPr indent="-3302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Captured evidence (images/videos)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en-US"/>
              <a:t>Custom </a:t>
            </a:r>
            <a:r>
              <a:rPr b="1" lang="en-US"/>
              <a:t>dataset</a:t>
            </a:r>
            <a:r>
              <a:rPr lang="en-US"/>
              <a:t> for research &amp; scalability</a:t>
            </a:r>
            <a:endParaRPr/>
          </a:p>
        </p:txBody>
      </p:sp>
      <p:sp>
        <p:nvSpPr>
          <p:cNvPr id="198" name="Google Shape;198;p25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ational University of Computer and Emerging Sciences - Wikipedia" id="199" name="Google Shape;1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/>
          <p:nvPr>
            <p:ph idx="12" type="sldNum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p26"/>
          <p:cNvSpPr txBox="1"/>
          <p:nvPr>
            <p:ph type="title"/>
          </p:nvPr>
        </p:nvSpPr>
        <p:spPr>
          <a:xfrm>
            <a:off x="294875" y="443350"/>
            <a:ext cx="10437300" cy="74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Team Work</a:t>
            </a:r>
            <a:endParaRPr/>
          </a:p>
        </p:txBody>
      </p:sp>
      <p:sp>
        <p:nvSpPr>
          <p:cNvPr id="207" name="Google Shape;207;p26"/>
          <p:cNvSpPr txBox="1"/>
          <p:nvPr>
            <p:ph idx="12" type="sldNum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26"/>
          <p:cNvSpPr txBox="1"/>
          <p:nvPr/>
        </p:nvSpPr>
        <p:spPr>
          <a:xfrm>
            <a:off x="473325" y="1634409"/>
            <a:ext cx="3559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</a:pPr>
            <a:r>
              <a:rPr b="1"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HAMZA</a:t>
            </a:r>
            <a:endParaRPr b="1"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Data Collection</a:t>
            </a:r>
            <a:endParaRPr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Model Training</a:t>
            </a:r>
            <a:endParaRPr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Integration</a:t>
            </a:r>
            <a:endParaRPr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4355825" y="1491963"/>
            <a:ext cx="3330900" cy="15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</a:pPr>
            <a:r>
              <a:rPr b="1"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ABDULLAH</a:t>
            </a:r>
            <a:endParaRPr b="1"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Data Preprocessing</a:t>
            </a:r>
            <a:endParaRPr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Model Validation &amp; Testing</a:t>
            </a:r>
            <a:endParaRPr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Dashboard Development</a:t>
            </a:r>
            <a:endParaRPr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10" name="Google Shape;210;p26"/>
          <p:cNvSpPr txBox="1"/>
          <p:nvPr/>
        </p:nvSpPr>
        <p:spPr>
          <a:xfrm>
            <a:off x="7544775" y="1563184"/>
            <a:ext cx="3559500" cy="12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</a:pPr>
            <a:r>
              <a:rPr b="1"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MUSTAFA</a:t>
            </a:r>
            <a:endParaRPr b="1"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Data Annotation</a:t>
            </a:r>
            <a:endParaRPr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Front-end / UI Implementation</a:t>
            </a:r>
            <a:endParaRPr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Final System Testing</a:t>
            </a:r>
            <a:endParaRPr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11" name="Google Shape;2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380" y="3362150"/>
            <a:ext cx="8217543" cy="580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University of Computer and Emerging Sciences - Wikipedia" id="212" name="Google Shape;21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218" name="Google Shape;218;p27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27"/>
          <p:cNvSpPr txBox="1"/>
          <p:nvPr/>
        </p:nvSpPr>
        <p:spPr>
          <a:xfrm>
            <a:off x="819420" y="1514168"/>
            <a:ext cx="85953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17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F6F74"/>
              </a:buClr>
              <a:buSzPts val="1694"/>
              <a:buChar char="•"/>
            </a:pPr>
            <a:r>
              <a:rPr lang="en-US" sz="1100">
                <a:solidFill>
                  <a:schemeClr val="dk1"/>
                </a:solidFill>
              </a:rPr>
              <a:t>[1] </a:t>
            </a:r>
            <a:r>
              <a:rPr i="1" lang="en-US" sz="1100">
                <a:solidFill>
                  <a:schemeClr val="dk1"/>
                </a:solidFill>
              </a:rPr>
              <a:t>The Express Tribune</a:t>
            </a:r>
            <a:r>
              <a:rPr lang="en-US" sz="1100">
                <a:solidFill>
                  <a:schemeClr val="dk1"/>
                </a:solidFill>
              </a:rPr>
              <a:t>, “Action Sought Against Overloaded Public Transport,” March 15, 2023. Available:</a:t>
            </a:r>
            <a:r>
              <a:rPr lang="en-US" sz="1100" u="sng">
                <a:solidFill>
                  <a:schemeClr val="hlink"/>
                </a:solidFill>
                <a:hlinkClick r:id="rId3"/>
              </a:rPr>
              <a:t> https://tribune.com.pk/story/2406116/action-sought-against-overloaded-public-transport</a:t>
            </a:r>
            <a:endParaRPr sz="1100" u="sng">
              <a:solidFill>
                <a:schemeClr val="hlink"/>
              </a:solidFill>
            </a:endParaRPr>
          </a:p>
          <a:p>
            <a:pPr indent="-3361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6F74"/>
              </a:buClr>
              <a:buSzPts val="1694"/>
              <a:buChar char="•"/>
            </a:pPr>
            <a:r>
              <a:rPr lang="en-US" sz="1100">
                <a:solidFill>
                  <a:schemeClr val="dk1"/>
                </a:solidFill>
              </a:rPr>
              <a:t>[2] </a:t>
            </a:r>
            <a:r>
              <a:rPr i="1" lang="en-US" sz="1100">
                <a:solidFill>
                  <a:schemeClr val="dk1"/>
                </a:solidFill>
              </a:rPr>
              <a:t>The Nation (Pakistan)</a:t>
            </a:r>
            <a:r>
              <a:rPr lang="en-US" sz="1100">
                <a:solidFill>
                  <a:schemeClr val="dk1"/>
                </a:solidFill>
              </a:rPr>
              <a:t>, “Plan Finalised to Enforce Ban on Passengers Sitting on Rooftops of Vehicles,” June 11, 2025. Available:</a:t>
            </a:r>
            <a:r>
              <a:rPr lang="en-US" sz="1100" u="sng">
                <a:solidFill>
                  <a:schemeClr val="hlink"/>
                </a:solidFill>
                <a:hlinkClick r:id="rId4"/>
              </a:rPr>
              <a:t> https://www.nation.com.pk/11-Jun-2025/plan-finalised-to-enforce-ban-on-passengers-sitting-on-rooftops-of-vehicles</a:t>
            </a:r>
            <a:endParaRPr sz="1100" u="sng">
              <a:solidFill>
                <a:schemeClr val="hlink"/>
              </a:solidFill>
            </a:endParaRPr>
          </a:p>
          <a:p>
            <a:pPr indent="-3361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6F74"/>
              </a:buClr>
              <a:buSzPts val="1694"/>
              <a:buChar char="•"/>
            </a:pPr>
            <a:r>
              <a:rPr lang="en-US" sz="1100">
                <a:solidFill>
                  <a:schemeClr val="dk1"/>
                </a:solidFill>
              </a:rPr>
              <a:t>[3] World Bank / IRU, “Pakistan Seeks International Expertise and Standards to Curb Road Accidents,” June 25, 2025. Available:</a:t>
            </a:r>
            <a:r>
              <a:rPr lang="en-US" sz="1100" u="sng">
                <a:solidFill>
                  <a:schemeClr val="hlink"/>
                </a:solidFill>
                <a:hlinkClick r:id="rId5"/>
              </a:rPr>
              <a:t> https://www.iru.org/news-resources/newsroom/pakistan-seeks-international-expertise-and-standards-curb-road-accidents</a:t>
            </a:r>
            <a:endParaRPr sz="1100" u="sng">
              <a:solidFill>
                <a:schemeClr val="hlink"/>
              </a:solidFill>
            </a:endParaRPr>
          </a:p>
          <a:p>
            <a:pPr indent="-3361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6F74"/>
              </a:buClr>
              <a:buSzPts val="1694"/>
              <a:buChar char="•"/>
            </a:pPr>
            <a:r>
              <a:rPr lang="en-US" sz="1100" u="sng">
                <a:solidFill>
                  <a:schemeClr val="hlink"/>
                </a:solidFill>
                <a:hlinkClick r:id="rId6"/>
              </a:rPr>
              <a:t>[4] A. Hussain, S. Ahmed, “</a:t>
            </a:r>
            <a:r>
              <a:rPr lang="en-US" sz="1100" u="sng">
                <a:solidFill>
                  <a:schemeClr val="hlink"/>
                </a:solidFill>
                <a:hlinkClick r:id="rId7"/>
              </a:rPr>
              <a:t>Public Transport Safety and Accident Causation in South Asia: An Empirical Review,” </a:t>
            </a:r>
            <a:r>
              <a:rPr i="1" lang="en-US" sz="1100" u="sng">
                <a:solidFill>
                  <a:schemeClr val="hlink"/>
                </a:solidFill>
                <a:hlinkClick r:id="rId8"/>
              </a:rPr>
              <a:t>Journal of Transport and Safety Studies</a:t>
            </a:r>
            <a:r>
              <a:rPr lang="en-US" sz="1100" u="sng">
                <a:solidFill>
                  <a:schemeClr val="hlink"/>
                </a:solidFill>
                <a:hlinkClick r:id="rId9"/>
              </a:rPr>
              <a:t>, 2022, pp. 67–85. DOI: 10.1016/j.jtss.2022.104512</a:t>
            </a:r>
            <a:endParaRPr sz="1100">
              <a:solidFill>
                <a:schemeClr val="dk1"/>
              </a:solidFill>
            </a:endParaRPr>
          </a:p>
          <a:p>
            <a:pPr indent="-3361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6F74"/>
              </a:buClr>
              <a:buSzPts val="1694"/>
              <a:buChar char="•"/>
            </a:pPr>
            <a:r>
              <a:rPr lang="en-US" sz="1100">
                <a:solidFill>
                  <a:schemeClr val="dk1"/>
                </a:solidFill>
              </a:rPr>
              <a:t>[5] </a:t>
            </a:r>
            <a:r>
              <a:rPr i="1" lang="en-US" sz="1100">
                <a:solidFill>
                  <a:schemeClr val="dk1"/>
                </a:solidFill>
              </a:rPr>
              <a:t>The Southern Eye (Zimbabwe)</a:t>
            </a:r>
            <a:r>
              <a:rPr lang="en-US" sz="1100">
                <a:solidFill>
                  <a:schemeClr val="dk1"/>
                </a:solidFill>
              </a:rPr>
              <a:t>, “Public Transport Overloading Increases Road Accidents,” 2024. Available:</a:t>
            </a:r>
            <a:r>
              <a:rPr lang="en-US" sz="1100" u="sng">
                <a:solidFill>
                  <a:schemeClr val="hlink"/>
                </a:solidFill>
                <a:hlinkClick r:id="rId10"/>
              </a:rPr>
              <a:t> https://www.newsday.co.zw/southerneye/local-news/article/200028837/public-transport-overloading-increases-road-accidents</a:t>
            </a:r>
            <a:endParaRPr sz="1100" u="sng">
              <a:solidFill>
                <a:schemeClr val="hlink"/>
              </a:solidFill>
            </a:endParaRPr>
          </a:p>
          <a:p>
            <a:pPr indent="-3361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6F74"/>
              </a:buClr>
              <a:buSzPts val="1694"/>
              <a:buChar char="•"/>
            </a:pPr>
            <a:r>
              <a:rPr lang="en-US" sz="1100">
                <a:solidFill>
                  <a:schemeClr val="dk1"/>
                </a:solidFill>
              </a:rPr>
              <a:t>[6] K. Ofori Asiamah, “Africa Must Build a More Robust Public Transport System,” </a:t>
            </a:r>
            <a:r>
              <a:rPr i="1" lang="en-US" sz="1100">
                <a:solidFill>
                  <a:schemeClr val="dk1"/>
                </a:solidFill>
              </a:rPr>
              <a:t>Citi Newsroom (Ghana)</a:t>
            </a:r>
            <a:r>
              <a:rPr lang="en-US" sz="1100">
                <a:solidFill>
                  <a:schemeClr val="dk1"/>
                </a:solidFill>
              </a:rPr>
              <a:t>, June 2024. Available:</a:t>
            </a:r>
            <a:r>
              <a:rPr lang="en-US" sz="1100" u="sng">
                <a:solidFill>
                  <a:schemeClr val="hlink"/>
                </a:solidFill>
                <a:hlinkClick r:id="rId11"/>
              </a:rPr>
              <a:t> https://citinewsroom.com/2024/06/africa-must-build-a-more-robust-public-transport-system-ofori-asiamah</a:t>
            </a:r>
            <a:endParaRPr sz="18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National University of Computer and Emerging Sciences - Wikipedia" id="220" name="Google Shape;220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